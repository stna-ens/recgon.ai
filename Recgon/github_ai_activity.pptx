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Developers (M)</c:v>
                </c:pt>
              </c:strCache>
            </c:strRef>
          </c:tx>
          <c:spPr>
            <a:solidFill>
              <a:srgbClr val="7C6AF7"/>
            </a:solidFill>
            <a:ln w="31750" cap="flat">
              <a:solidFill>
                <a:srgbClr val="7C6AF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C6AF7"/>
              </a:solidFill>
              <a:ln w="9525" cap="flat">
                <a:solidFill>
                  <a:srgbClr val="7C6AF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40</c:v>
                </c:pt>
                <c:pt idx="1">
                  <c:v>56</c:v>
                </c:pt>
                <c:pt idx="2">
                  <c:v>73</c:v>
                </c:pt>
                <c:pt idx="3">
                  <c:v>94</c:v>
                </c:pt>
                <c:pt idx="4">
                  <c:v>100</c:v>
                </c:pt>
                <c:pt idx="5">
                  <c:v>150</c:v>
                </c:pt>
                <c:pt idx="6">
                  <c:v>180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60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41C2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60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1520"/>
        </a:solidFill>
        <a:ln>
          <a:noFill/>
        </a:ln>
        <a:effectLst/>
      </c:spPr>
    </c:plotArea>
    <c:plotVisOnly val="1"/>
    <c:dispBlanksAs val="span"/>
  </c:chart>
  <c:spPr>
    <a:solidFill>
      <a:srgbClr val="11152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Repos (K)</c:v>
                </c:pt>
              </c:strCache>
            </c:strRef>
          </c:tx>
          <c:spPr>
            <a:solidFill>
              <a:srgbClr val="7C6A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2025*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18</c:v>
                </c:pt>
                <c:pt idx="2">
                  <c:v>38</c:v>
                </c:pt>
                <c:pt idx="3">
                  <c:v>95</c:v>
                </c:pt>
                <c:pt idx="4">
                  <c:v>232</c:v>
                </c:pt>
                <c:pt idx="5">
                  <c:v>390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60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41C2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60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1520"/>
        </a:solidFill>
        <a:ln>
          <a:noFill/>
        </a:ln>
        <a:effectLst/>
      </c:spPr>
    </c:plotArea>
    <c:plotVisOnly val="1"/>
    <c:dispBlanksAs val="span"/>
  </c:chart>
  <c:spPr>
    <a:solidFill>
      <a:srgbClr val="11152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PRs (M)</c:v>
                </c:pt>
              </c:strCache>
            </c:strRef>
          </c:tx>
          <c:spPr>
            <a:solidFill>
              <a:srgbClr val="A89AF9"/>
            </a:solidFill>
            <a:ln w="31750" cap="flat">
              <a:solidFill>
                <a:srgbClr val="A89AF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89AF9"/>
              </a:solidFill>
              <a:ln w="9525" cap="flat">
                <a:solidFill>
                  <a:srgbClr val="A89AF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Q1 '22</c:v>
                  </c:pt>
                  <c:pt idx="1">
                    <c:v>Q3 '22</c:v>
                  </c:pt>
                  <c:pt idx="2">
                    <c:v>Q1 '23</c:v>
                  </c:pt>
                  <c:pt idx="3">
                    <c:v>Q3 '23</c:v>
                  </c:pt>
                  <c:pt idx="4">
                    <c:v>Q1 '24</c:v>
                  </c:pt>
                  <c:pt idx="5">
                    <c:v>Q3 '24</c:v>
                  </c:pt>
                  <c:pt idx="6">
                    <c:v>Q1 '25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26</c:v>
                </c:pt>
                <c:pt idx="1">
                  <c:v>28</c:v>
                </c:pt>
                <c:pt idx="2">
                  <c:v>31</c:v>
                </c:pt>
                <c:pt idx="3">
                  <c:v>33</c:v>
                </c:pt>
                <c:pt idx="4">
                  <c:v>36</c:v>
                </c:pt>
                <c:pt idx="5">
                  <c:v>39</c:v>
                </c:pt>
                <c:pt idx="6">
                  <c:v>43.2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60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41C2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60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1520"/>
        </a:solidFill>
        <a:ln>
          <a:noFill/>
        </a:ln>
        <a:effectLst/>
      </c:spPr>
    </c:plotArea>
    <c:plotVisOnly val="1"/>
    <c:dispBlanksAs val="span"/>
  </c:chart>
  <c:spPr>
    <a:solidFill>
      <a:srgbClr val="111520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Python</c:v>
                </c:pt>
              </c:strCache>
            </c:strRef>
          </c:tx>
          <c:spPr>
            <a:solidFill>
              <a:srgbClr val="7C6A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22</c:v>
                </c:pt>
                <c:pt idx="2">
                  <c:v>35</c:v>
                </c:pt>
                <c:pt idx="3">
                  <c:v>48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TypeScript</c:v>
                </c:pt>
              </c:strCache>
            </c:strRef>
          </c:tx>
          <c:spPr>
            <a:solidFill>
              <a:srgbClr val="A89AF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</c:v>
                </c:pt>
                <c:pt idx="1">
                  <c:v>24</c:v>
                </c:pt>
                <c:pt idx="2">
                  <c:v>38</c:v>
                </c:pt>
                <c:pt idx="3">
                  <c:v>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60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41C2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60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1520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111520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Code Share (%)</c:v>
                </c:pt>
              </c:strCache>
            </c:strRef>
          </c:tx>
          <c:spPr>
            <a:solidFill>
              <a:srgbClr val="7C6AF7"/>
            </a:solidFill>
            <a:ln w="31750" cap="flat">
              <a:solidFill>
                <a:srgbClr val="7C6AF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C6AF7"/>
              </a:solidFill>
              <a:ln w="9525" cap="flat">
                <a:solidFill>
                  <a:srgbClr val="7C6AF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Jun '22</c:v>
                  </c:pt>
                  <c:pt idx="1">
                    <c:v>Dec '22</c:v>
                  </c:pt>
                  <c:pt idx="2">
                    <c:v>Jun '23</c:v>
                  </c:pt>
                  <c:pt idx="3">
                    <c:v>Dec '23</c:v>
                  </c:pt>
                  <c:pt idx="4">
                    <c:v>Jun '24</c:v>
                  </c:pt>
                  <c:pt idx="5">
                    <c:v>Dec '24</c:v>
                  </c:pt>
                  <c:pt idx="6">
                    <c:v>Jun '25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27</c:v>
                </c:pt>
                <c:pt idx="1">
                  <c:v>30</c:v>
                </c:pt>
                <c:pt idx="2">
                  <c:v>34</c:v>
                </c:pt>
                <c:pt idx="3">
                  <c:v>38</c:v>
                </c:pt>
                <c:pt idx="4">
                  <c:v>42</c:v>
                </c:pt>
                <c:pt idx="5">
                  <c:v>46</c:v>
                </c:pt>
                <c:pt idx="6">
                  <c:v>50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Copilot Users (M)</c:v>
                </c:pt>
              </c:strCache>
            </c:strRef>
          </c:tx>
          <c:spPr>
            <a:solidFill>
              <a:srgbClr val="DDE1EF"/>
            </a:solidFill>
            <a:ln w="31750" cap="flat">
              <a:solidFill>
                <a:srgbClr val="DDE1E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DE1EF"/>
              </a:solidFill>
              <a:ln w="9525" cap="flat">
                <a:solidFill>
                  <a:srgbClr val="DDE1E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Jun '22</c:v>
                  </c:pt>
                  <c:pt idx="1">
                    <c:v>Dec '22</c:v>
                  </c:pt>
                  <c:pt idx="2">
                    <c:v>Jun '23</c:v>
                  </c:pt>
                  <c:pt idx="3">
                    <c:v>Dec '23</c:v>
                  </c:pt>
                  <c:pt idx="4">
                    <c:v>Jun '24</c:v>
                  </c:pt>
                  <c:pt idx="5">
                    <c:v>Dec '24</c:v>
                  </c:pt>
                  <c:pt idx="6">
                    <c:v>Jun '25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0.4</c:v>
                </c:pt>
                <c:pt idx="1">
                  <c:v>1.5</c:v>
                </c:pt>
                <c:pt idx="2">
                  <c:v>4</c:v>
                </c:pt>
                <c:pt idx="3">
                  <c:v>7</c:v>
                </c:pt>
                <c:pt idx="4">
                  <c:v>12</c:v>
                </c:pt>
                <c:pt idx="5">
                  <c:v>17</c:v>
                </c:pt>
                <c:pt idx="6">
                  <c:v>20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60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41C2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60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1520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11152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5A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× AI ERA  /  KEY METRICS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365760" y="1325880"/>
            <a:ext cx="1536192" cy="2331720"/>
          </a:xfrm>
          <a:prstGeom prst="rect">
            <a:avLst/>
          </a:prstGeom>
          <a:solidFill>
            <a:srgbClr val="111520"/>
          </a:solidFill>
          <a:ln w="9525">
            <a:solidFill>
              <a:srgbClr val="1D25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325880"/>
            <a:ext cx="844906" cy="36576"/>
          </a:xfrm>
          <a:prstGeom prst="rect">
            <a:avLst/>
          </a:prstGeom>
          <a:solidFill>
            <a:srgbClr val="7C6AF7">
              <a:alpha val="85000"/>
            </a:srgbClr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3776" y="1508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(2025)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1847088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9A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180M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93776" y="2606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147% since 2021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11680" y="1325880"/>
            <a:ext cx="1536192" cy="2331720"/>
          </a:xfrm>
          <a:prstGeom prst="rect">
            <a:avLst/>
          </a:prstGeom>
          <a:solidFill>
            <a:srgbClr val="111520"/>
          </a:solidFill>
          <a:ln w="9525">
            <a:solidFill>
              <a:srgbClr val="1D25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1325880"/>
            <a:ext cx="844906" cy="36576"/>
          </a:xfrm>
          <a:prstGeom prst="rect">
            <a:avLst/>
          </a:prstGeom>
          <a:solidFill>
            <a:srgbClr val="7C6AF7">
              <a:alpha val="85000"/>
            </a:srgbClr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39696" y="1508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PRs (2025)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103120" y="1847088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9A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43.2M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139696" y="2606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+23% YoY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0" y="1325880"/>
            <a:ext cx="1536192" cy="2331720"/>
          </a:xfrm>
          <a:prstGeom prst="rect">
            <a:avLst/>
          </a:prstGeom>
          <a:solidFill>
            <a:srgbClr val="111520"/>
          </a:solidFill>
          <a:ln w="9525">
            <a:solidFill>
              <a:srgbClr val="1D25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1325880"/>
            <a:ext cx="844906" cy="36576"/>
          </a:xfrm>
          <a:prstGeom prst="rect">
            <a:avLst/>
          </a:prstGeom>
          <a:solidFill>
            <a:srgbClr val="7C6AF7">
              <a:alpha val="85000"/>
            </a:srgbClr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85616" y="1508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AI Repos (2024)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749040" y="1847088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9A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137K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785616" y="2606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+98% YoY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303520" y="1325880"/>
            <a:ext cx="1536192" cy="2331720"/>
          </a:xfrm>
          <a:prstGeom prst="rect">
            <a:avLst/>
          </a:prstGeom>
          <a:solidFill>
            <a:srgbClr val="111520"/>
          </a:solidFill>
          <a:ln w="9525">
            <a:solidFill>
              <a:srgbClr val="1D25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0" y="1325880"/>
            <a:ext cx="844906" cy="36576"/>
          </a:xfrm>
          <a:prstGeom prst="rect">
            <a:avLst/>
          </a:prstGeom>
          <a:solidFill>
            <a:srgbClr val="7C6AF7">
              <a:alpha val="85000"/>
            </a:srgbClr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31536" y="1508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Commits (2025)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394960" y="1847088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9A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~1B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431536" y="2606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+25.1% YoY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949440" y="1325880"/>
            <a:ext cx="1536192" cy="2331720"/>
          </a:xfrm>
          <a:prstGeom prst="rect">
            <a:avLst/>
          </a:prstGeom>
          <a:solidFill>
            <a:srgbClr val="111520"/>
          </a:solidFill>
          <a:ln w="9525">
            <a:solidFill>
              <a:srgbClr val="1D25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49440" y="1325880"/>
            <a:ext cx="844906" cy="36576"/>
          </a:xfrm>
          <a:prstGeom prst="rect">
            <a:avLst/>
          </a:prstGeom>
          <a:solidFill>
            <a:srgbClr val="7C6AF7">
              <a:alpha val="85000"/>
            </a:srgbClr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77456" y="1508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Users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040880" y="1847088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9A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20M+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077456" y="2606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4× in 1 year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GitHub Octoverse 2024–2025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5A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× AI ERA  /  GROWTH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5303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DE1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Developer Growth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863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GitHub developers (millions)</a:t>
            </a:r>
            <a:endParaRPr lang="en-US" sz="8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05840"/>
          <a:ext cx="429768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846320" y="5303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DE1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Repository Explosion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846320" y="7863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generative AI repos (thousands)</a:t>
            </a:r>
            <a:endParaRPr lang="en-US" sz="85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754880" y="1005840"/>
          <a:ext cx="42062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GitHub Octoverse 2024–2025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5A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× AI ERA  /  PLATFORM ACTIVITY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5303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DE1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Monthly Pull Requests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863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monthly PR volume (millions)</a:t>
            </a:r>
            <a:endParaRPr lang="en-US" sz="8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05840"/>
          <a:ext cx="429768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846320" y="5303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DE1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Language Growth (YoY %)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846320" y="7863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TypeScript contributor growth year-over-year</a:t>
            </a:r>
            <a:endParaRPr lang="en-US" sz="85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754880" y="1005840"/>
          <a:ext cx="42062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GitHub Octoverse 2024–2025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5A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× AI ERA  /  COPILOT IMPACT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512064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E1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Copilot Growth &amp; AI Code Share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code share (%) alongside Copilot user count (M) — both series on a shared timeline</a:t>
            </a:r>
            <a:endParaRPr lang="en-US" sz="8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78992"/>
          <a:ext cx="85953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GitHub Octoverse 2024–2025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5A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× AI ERA  /  MILESTONES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2022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517904" y="676656"/>
            <a:ext cx="100584" cy="100584"/>
          </a:xfrm>
          <a:prstGeom prst="ellipse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19072" y="5852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DE1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Copilot GA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719072" y="877824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to general availability. AI-assisted code completion era begins.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1252728"/>
            <a:ext cx="8412480" cy="0"/>
          </a:xfrm>
          <a:prstGeom prst="line">
            <a:avLst/>
          </a:prstGeom>
          <a:noFill/>
          <a:ln w="6350">
            <a:solidFill>
              <a:srgbClr val="1D25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1732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517904" y="1472184"/>
            <a:ext cx="100584" cy="100584"/>
          </a:xfrm>
          <a:prstGeom prst="ellipse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19072" y="13807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DE1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ChatGPT Launch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19072" y="1673352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1M users in 5 days. LLM projects on GitHub surged immediately.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048256"/>
            <a:ext cx="8412480" cy="0"/>
          </a:xfrm>
          <a:prstGeom prst="line">
            <a:avLst/>
          </a:prstGeom>
          <a:noFill/>
          <a:ln w="6350">
            <a:solidFill>
              <a:srgbClr val="1D25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212848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2023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517904" y="2267712"/>
            <a:ext cx="100584" cy="100584"/>
          </a:xfrm>
          <a:prstGeom prst="ellipse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19072" y="21762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DE1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GPT-4 &amp; Model Race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19072" y="246888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model competition begins. LLM SDK imports multiply across repos.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843784"/>
            <a:ext cx="8412480" cy="0"/>
          </a:xfrm>
          <a:prstGeom prst="line">
            <a:avLst/>
          </a:prstGeom>
          <a:noFill/>
          <a:ln w="6350">
            <a:solidFill>
              <a:srgbClr val="1D25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00837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517904" y="3063240"/>
            <a:ext cx="100584" cy="100584"/>
          </a:xfrm>
          <a:prstGeom prst="ellipse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19072" y="2971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DE1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Repository Explosion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19072" y="326440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137K new AI repos, +59% contribution growth, Python overtakes JavaScript.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639312"/>
            <a:ext cx="8412480" cy="0"/>
          </a:xfrm>
          <a:prstGeom prst="line">
            <a:avLst/>
          </a:prstGeom>
          <a:noFill/>
          <a:ln w="6350">
            <a:solidFill>
              <a:srgbClr val="1D25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80390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517904" y="3858768"/>
            <a:ext cx="100584" cy="100584"/>
          </a:xfrm>
          <a:prstGeom prst="ellipse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19072" y="37673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DE1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180M Developers &amp; 1B Commits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719072" y="4059936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new developer joins per second. 46% of all code generated by Copilot.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A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GitHub Octoverse 2024–2025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AI Era Activity</dc:title>
  <dc:subject>PptxGenJS Presentation</dc:subject>
  <dc:creator>PptxGenJS</dc:creator>
  <cp:lastModifiedBy>PptxGenJS</cp:lastModifiedBy>
  <cp:revision>1</cp:revision>
  <dcterms:created xsi:type="dcterms:W3CDTF">2026-03-28T19:25:40Z</dcterms:created>
  <dcterms:modified xsi:type="dcterms:W3CDTF">2026-03-28T19:25:40Z</dcterms:modified>
</cp:coreProperties>
</file>